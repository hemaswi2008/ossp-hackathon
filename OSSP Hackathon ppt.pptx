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457200"/>
            <a:ext cx="2377440" cy="2377440"/>
          </a:xfrm>
          <a:prstGeom prst="ellipse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1234440"/>
            <a:ext cx="1645920" cy="1645920"/>
          </a:xfrm>
          <a:prstGeom prst="ellipse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1828800"/>
            <a:ext cx="822960" cy="822960"/>
          </a:xfrm>
          <a:prstGeom prst="ellipse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640080"/>
            <a:ext cx="1417320" cy="329184"/>
          </a:xfrm>
          <a:prstGeom prst="roundRect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667512"/>
            <a:ext cx="1344168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7F9FC"/>
                </a:solidFill>
                <a:latin typeface="Aptos"/>
              </a:defRPr>
            </a:pPr>
            <a:r>
              <a:t>OS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955279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3100" b="1">
                <a:solidFill>
                  <a:srgbClr val="F7F9FC"/>
                </a:solidFill>
                <a:latin typeface="Aptos"/>
              </a:defRPr>
            </a:pPr>
            <a:r>
              <a:t>READERS–WRITERS</a:t>
            </a:r>
          </a:p>
          <a:p>
            <a:pPr algn="l">
              <a:spcAft>
                <a:spcPts val="500"/>
              </a:spcAft>
              <a:defRPr sz="3100" b="1">
                <a:solidFill>
                  <a:srgbClr val="F7F9FC"/>
                </a:solidFill>
                <a:latin typeface="Aptos"/>
              </a:defRPr>
            </a:pPr>
            <a:r>
              <a:t>CONCURRENT DATABASE SIMULATOR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46120"/>
            <a:ext cx="7132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A4B5CC"/>
                </a:solidFill>
                <a:latin typeface="Aptos"/>
              </a:defRPr>
            </a:pPr>
            <a:r>
              <a:t>Operating Systems • Synchronization • Processes • Memory • IPC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4069080"/>
            <a:ext cx="1097280" cy="54864"/>
          </a:xfrm>
          <a:prstGeom prst="rect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4343400"/>
            <a:ext cx="7223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2FBECD"/>
                </a:solidFill>
                <a:latin typeface="Aptos"/>
              </a:defRPr>
            </a:pPr>
            <a:r>
              <a:t>TEAM NO.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800600"/>
            <a:ext cx="78638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DEE7F3"/>
                </a:solidFill>
                <a:latin typeface="Aptos"/>
              </a:defRPr>
            </a:pPr>
            <a:r>
              <a:t>2520030303  •  PODILA BHARGAVA RAMA SASTRY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DEE7F3"/>
                </a:solidFill>
                <a:latin typeface="Aptos"/>
              </a:defRPr>
            </a:pPr>
            <a:r>
              <a:t>2520030164  •  MARGANI DIJENDRA VENKAT KUMAR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DEE7F3"/>
                </a:solidFill>
                <a:latin typeface="Aptos"/>
              </a:defRPr>
            </a:pPr>
            <a:r>
              <a:t>2520030069  •  GIRINENI HEMASWI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263640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A4B5CC"/>
                </a:solidFill>
                <a:latin typeface="Aptos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60120" cy="50292"/>
          </a:xfrm>
          <a:prstGeom prst="rect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813816"/>
            <a:ext cx="9418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A4B5CC"/>
                </a:solidFill>
                <a:latin typeface="Aptos"/>
              </a:defRPr>
            </a:pPr>
            <a:r>
              <a:t>A terminal-based C project demonstrating core operating-system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A4B5C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1206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2FBECD"/>
                </a:solidFill>
                <a:latin typeface="Aptos"/>
              </a:defRPr>
            </a:pPr>
            <a:r>
              <a:t>What does it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029200" cy="1920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DEE7F3"/>
                </a:solidFill>
                <a:latin typeface="Aptos"/>
              </a:defRPr>
            </a:pPr>
            <a:r>
              <a:t>Simulates concurrent access to a shared database value and demonstrates how an operating system manages processes, threads, communication, memory, and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377440" cy="1417320"/>
          </a:xfrm>
          <a:prstGeom prst="roundRect">
            <a:avLst/>
          </a:prstGeom>
          <a:solidFill>
            <a:srgbClr val="162B48"/>
          </a:solidFill>
          <a:ln>
            <a:solidFill>
              <a:srgbClr val="2F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0" y="1536192"/>
            <a:ext cx="64008" cy="1088136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27648" y="1536192"/>
            <a:ext cx="2011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1993392"/>
            <a:ext cx="2011680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DEE7F3"/>
                </a:solidFill>
                <a:latin typeface="Aptos"/>
              </a:defRPr>
            </a:pPr>
            <a:r>
              <a:t>C with POSIX APIs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371600"/>
            <a:ext cx="2560320" cy="1417320"/>
          </a:xfrm>
          <a:prstGeom prst="roundRect">
            <a:avLst/>
          </a:prstGeom>
          <a:solidFill>
            <a:srgbClr val="162B48"/>
          </a:solidFill>
          <a:ln>
            <a:solidFill>
              <a:srgbClr val="2F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732520" y="1536192"/>
            <a:ext cx="64008" cy="1088136"/>
          </a:xfrm>
          <a:prstGeom prst="rect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33688" y="1536192"/>
            <a:ext cx="21945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1993392"/>
            <a:ext cx="2194560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DEE7F3"/>
                </a:solidFill>
                <a:latin typeface="Aptos"/>
              </a:defRPr>
            </a:pPr>
            <a:r>
              <a:t>Ubuntu / Linux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063240"/>
            <a:ext cx="2377440" cy="1417320"/>
          </a:xfrm>
          <a:prstGeom prst="roundRect">
            <a:avLst/>
          </a:prstGeom>
          <a:solidFill>
            <a:srgbClr val="162B48"/>
          </a:solidFill>
          <a:ln>
            <a:solidFill>
              <a:srgbClr val="2F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3227832"/>
            <a:ext cx="64008" cy="1088136"/>
          </a:xfrm>
          <a:prstGeom prst="rect">
            <a:avLst/>
          </a:prstGeom>
          <a:solidFill>
            <a:srgbClr val="40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3227832"/>
            <a:ext cx="2011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685032"/>
            <a:ext cx="2011680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DEE7F3"/>
                </a:solidFill>
                <a:latin typeface="Aptos"/>
              </a:defRPr>
            </a:pPr>
            <a:r>
              <a:t>Command-line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3063240"/>
            <a:ext cx="2560320" cy="1417320"/>
          </a:xfrm>
          <a:prstGeom prst="roundRect">
            <a:avLst/>
          </a:prstGeom>
          <a:solidFill>
            <a:srgbClr val="162B48"/>
          </a:solidFill>
          <a:ln>
            <a:solidFill>
              <a:srgbClr val="2F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732520" y="3227832"/>
            <a:ext cx="64008" cy="1088136"/>
          </a:xfrm>
          <a:prstGeom prst="rect">
            <a:avLst/>
          </a:prstGeom>
          <a:solidFill>
            <a:srgbClr val="F4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33688" y="3227832"/>
            <a:ext cx="21945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3685032"/>
            <a:ext cx="2194560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DEE7F3"/>
                </a:solidFill>
                <a:latin typeface="Aptos"/>
              </a:defRPr>
            </a:pPr>
            <a:r>
              <a:t>Automated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07492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F7F9FC"/>
                </a:solidFill>
                <a:latin typeface="Aptos"/>
              </a:defRPr>
            </a:pPr>
            <a:r>
              <a:t>Main result: the synchronized database finishes at 160, and all seven project tests pass.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60120" cy="50292"/>
          </a:xfrm>
          <a:prstGeom prst="rect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813816"/>
            <a:ext cx="9418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A4B5CC"/>
                </a:solidFill>
                <a:latin typeface="Aptos"/>
              </a:defRPr>
            </a:pPr>
            <a:r>
              <a:t>Why synchronization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A4B5C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1874519"/>
          </a:xfrm>
          <a:prstGeom prst="roundRect">
            <a:avLst/>
          </a:prstGeom>
          <a:solidFill>
            <a:srgbClr val="162B48"/>
          </a:solidFill>
          <a:ln>
            <a:solidFill>
              <a:srgbClr val="2F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36192"/>
            <a:ext cx="64008" cy="1545336"/>
          </a:xfrm>
          <a:prstGeom prst="rect">
            <a:avLst/>
          </a:prstGeom>
          <a:solidFill>
            <a:srgbClr val="EB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36192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4846320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Multiple readers and writers may access shared data concurrently. Without coordination, updates can conflict and produce inconsistent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1874519"/>
          </a:xfrm>
          <a:prstGeom prst="roundRect">
            <a:avLst/>
          </a:prstGeom>
          <a:solidFill>
            <a:srgbClr val="162B48"/>
          </a:solidFill>
          <a:ln>
            <a:solidFill>
              <a:srgbClr val="2F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36192"/>
            <a:ext cx="64008" cy="1545336"/>
          </a:xfrm>
          <a:prstGeom prst="rect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536192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93392"/>
            <a:ext cx="4846320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Use POSIX threads and a reader–writer lock to coordinate access, then demonstrate related OS services in six additional CO modules.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F7F9FC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10515600" cy="1737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DEE7F3"/>
                </a:solidFill>
                <a:latin typeface="Aptos"/>
              </a:defRPr>
            </a:pPr>
            <a:r>
              <a:t>•  Protect shared database state from conflicting writes.</a:t>
            </a:r>
          </a:p>
          <a:p>
            <a:pPr>
              <a:spcAft>
                <a:spcPts val="800"/>
              </a:spcAft>
              <a:defRPr sz="1700">
                <a:solidFill>
                  <a:srgbClr val="DEE7F3"/>
                </a:solidFill>
                <a:latin typeface="Aptos"/>
              </a:defRPr>
            </a:pPr>
            <a:r>
              <a:t>•  Demonstrate process creation, IPC, memory behavior, file operations, and thread synchronization.</a:t>
            </a:r>
          </a:p>
          <a:p>
            <a:pPr>
              <a:spcAft>
                <a:spcPts val="800"/>
              </a:spcAft>
              <a:defRPr sz="1700">
                <a:solidFill>
                  <a:srgbClr val="DEE7F3"/>
                </a:solidFill>
                <a:latin typeface="Aptos"/>
              </a:defRPr>
            </a:pPr>
            <a:r>
              <a:t>•  Build and validate each module using a repeatable test script.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60120" cy="50292"/>
          </a:xfrm>
          <a:prstGeom prst="rect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813816"/>
            <a:ext cx="9418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A4B5CC"/>
                </a:solidFill>
                <a:latin typeface="Aptos"/>
              </a:defRPr>
            </a:pPr>
            <a:r>
              <a:t>Modular design with a central concurrency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A4B5C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920240" cy="960120"/>
          </a:xfrm>
          <a:prstGeom prst="roundRect">
            <a:avLst/>
          </a:prstGeom>
          <a:solidFill>
            <a:srgbClr val="162B48"/>
          </a:solidFill>
          <a:ln>
            <a:solidFill>
              <a:srgbClr val="2E7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1" y="1965960"/>
            <a:ext cx="17739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7F9FC"/>
                </a:solidFill>
                <a:latin typeface="Aptos"/>
              </a:defRPr>
            </a:pPr>
            <a:r>
              <a:t>User / Tester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1" y="2322576"/>
            <a:ext cx="17739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DEE7F3"/>
                </a:solidFill>
                <a:latin typeface="Aptos"/>
              </a:defRPr>
            </a:pPr>
            <a:r>
              <a:t>Runs make or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828800"/>
            <a:ext cx="1920240" cy="960120"/>
          </a:xfrm>
          <a:prstGeom prst="roundRect">
            <a:avLst/>
          </a:prstGeom>
          <a:solidFill>
            <a:srgbClr val="162B48"/>
          </a:solidFill>
          <a:ln>
            <a:solidFill>
              <a:srgbClr val="2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44952" y="1965960"/>
            <a:ext cx="17739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7F9FC"/>
                </a:solidFill>
                <a:latin typeface="Aptos"/>
              </a:defRPr>
            </a:pPr>
            <a:r>
              <a:t>Makefile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322576"/>
            <a:ext cx="17739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DEE7F3"/>
                </a:solidFill>
                <a:latin typeface="Aptos"/>
              </a:defRPr>
            </a:pPr>
            <a:r>
              <a:t>Builds C programs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828800"/>
            <a:ext cx="1920240" cy="960120"/>
          </a:xfrm>
          <a:prstGeom prst="roundRect">
            <a:avLst/>
          </a:prstGeom>
          <a:solidFill>
            <a:srgbClr val="162B48"/>
          </a:solidFill>
          <a:ln>
            <a:solidFill>
              <a:srgbClr val="40B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76672" y="1965960"/>
            <a:ext cx="17739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7F9FC"/>
                </a:solidFill>
                <a:latin typeface="Aptos"/>
              </a:defRPr>
            </a:pPr>
            <a:r>
              <a:t>Executables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672" y="2322576"/>
            <a:ext cx="17739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DEE7F3"/>
                </a:solidFill>
                <a:latin typeface="Aptos"/>
              </a:defRPr>
            </a:pPr>
            <a:r>
              <a:t>Main + CO-1 to CO-6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828800"/>
            <a:ext cx="1920240" cy="960120"/>
          </a:xfrm>
          <a:prstGeom prst="roundRect">
            <a:avLst/>
          </a:prstGeom>
          <a:solidFill>
            <a:srgbClr val="162B48"/>
          </a:solidFill>
          <a:ln>
            <a:solidFill>
              <a:srgbClr val="F4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08392" y="1965960"/>
            <a:ext cx="17739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7F9FC"/>
                </a:solidFill>
                <a:latin typeface="Aptos"/>
              </a:defRPr>
            </a:pPr>
            <a:r>
              <a:t>Test 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2322576"/>
            <a:ext cx="17739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DEE7F3"/>
                </a:solidFill>
                <a:latin typeface="Aptos"/>
              </a:defRPr>
            </a:pPr>
            <a:r>
              <a:t>Checks expected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1828800"/>
            <a:ext cx="1645920" cy="960120"/>
          </a:xfrm>
          <a:prstGeom prst="roundRect">
            <a:avLst/>
          </a:prstGeom>
          <a:solidFill>
            <a:srgbClr val="162B48"/>
          </a:solidFill>
          <a:ln>
            <a:solidFill>
              <a:srgbClr val="2E7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40112" y="1965960"/>
            <a:ext cx="149961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7F9FC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0112" y="2322576"/>
            <a:ext cx="149961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DEE7F3"/>
                </a:solidFill>
                <a:latin typeface="Aptos"/>
              </a:defRPr>
            </a:pPr>
            <a:r>
              <a:t>PASS / FAIL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60320" y="2304288"/>
            <a:ext cx="411480" cy="0"/>
          </a:xfrm>
          <a:prstGeom prst="line">
            <a:avLst/>
          </a:prstGeom>
          <a:ln w="25400">
            <a:solidFill>
              <a:srgbClr val="2F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92040" y="2304288"/>
            <a:ext cx="411480" cy="0"/>
          </a:xfrm>
          <a:prstGeom prst="line">
            <a:avLst/>
          </a:prstGeom>
          <a:ln w="25400">
            <a:solidFill>
              <a:srgbClr val="2F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223760" y="2304288"/>
            <a:ext cx="411480" cy="0"/>
          </a:xfrm>
          <a:prstGeom prst="line">
            <a:avLst/>
          </a:prstGeom>
          <a:ln w="25400">
            <a:solidFill>
              <a:srgbClr val="2F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55480" y="2304288"/>
            <a:ext cx="411480" cy="0"/>
          </a:xfrm>
          <a:prstGeom prst="line">
            <a:avLst/>
          </a:prstGeom>
          <a:ln w="25400">
            <a:solidFill>
              <a:srgbClr val="2F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65760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2FBECD"/>
                </a:solidFill>
                <a:latin typeface="Aptos"/>
              </a:defRPr>
            </a:pPr>
            <a:r>
              <a:t>Core module: Readers–Writers Simulator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51960"/>
            <a:ext cx="1014984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DEE7F3"/>
                </a:solidFill>
                <a:latin typeface="Aptos"/>
              </a:defRPr>
            </a:pPr>
            <a:r>
              <a:t>Shared database value  →  reader and writer threads  →  pthread_rwlock_t  →  final value verification</a:t>
            </a:r>
          </a:p>
          <a:p>
            <a:pPr algn="ctr">
              <a:spcAft>
                <a:spcPts val="500"/>
              </a:spcAft>
              <a:defRPr sz="1600" b="0">
                <a:solidFill>
                  <a:srgbClr val="DEE7F3"/>
                </a:solidFill>
                <a:latin typeface="Aptos"/>
              </a:defRPr>
            </a:pPr>
            <a:r>
              <a:t>Additional modules demonstrate OS information, fork/exec, pipe + signal, copy-on-write, file I/O + mmap, and mutex protection.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CO-1 • OS as a Service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60120" cy="50292"/>
          </a:xfrm>
          <a:prstGeom prst="rect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813816"/>
            <a:ext cx="9418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A4B5CC"/>
                </a:solidFill>
                <a:latin typeface="Aptos"/>
              </a:defRPr>
            </a:pPr>
            <a:r>
              <a:t>Querying system and process information through Linux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A4B5C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029200" cy="2286000"/>
          </a:xfrm>
          <a:prstGeom prst="roundRect">
            <a:avLst/>
          </a:prstGeom>
          <a:solidFill>
            <a:srgbClr val="162B48"/>
          </a:solidFill>
          <a:ln>
            <a:solidFill>
              <a:srgbClr val="2F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81912"/>
            <a:ext cx="64008" cy="1956816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81912"/>
            <a:ext cx="46634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What it demonstrates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39112"/>
            <a:ext cx="4663440" cy="1536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• Process ID (PID) and parent PID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• User ID (UID)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• Linux operating-system details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• Kernel release, architecture, processor 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029200" cy="2286000"/>
          </a:xfrm>
          <a:prstGeom prst="roundRect">
            <a:avLst/>
          </a:prstGeom>
          <a:solidFill>
            <a:srgbClr val="162B48"/>
          </a:solidFill>
          <a:ln>
            <a:solidFill>
              <a:srgbClr val="2F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581912"/>
            <a:ext cx="64008" cy="1956816"/>
          </a:xfrm>
          <a:prstGeom prst="rect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581912"/>
            <a:ext cx="46634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OS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039112"/>
            <a:ext cx="4663440" cy="1536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The program requests information from the operating system using standard system/library interfaces and Linux system information.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51960"/>
            <a:ext cx="103327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40BE82"/>
                </a:solidFill>
                <a:latin typeface="Aptos"/>
              </a:defRPr>
            </a:pPr>
            <a:r>
              <a:t>Evidence in output: Operating System: Linux • Kernel Release • Machine Architecture • Online Processors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CO-2 • Process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60120" cy="50292"/>
          </a:xfrm>
          <a:prstGeom prst="rect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813816"/>
            <a:ext cx="9418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A4B5CC"/>
                </a:solidFill>
                <a:latin typeface="Aptos"/>
              </a:defRPr>
            </a:pPr>
            <a:r>
              <a:t>Creating a child process and replacing its program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A4B5C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74920" cy="2377440"/>
          </a:xfrm>
          <a:prstGeom prst="roundRect">
            <a:avLst/>
          </a:prstGeom>
          <a:solidFill>
            <a:srgbClr val="162B48"/>
          </a:solidFill>
          <a:ln>
            <a:solidFill>
              <a:srgbClr val="2F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36192"/>
            <a:ext cx="64008" cy="2048256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36192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Execution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4709159" cy="1627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1. Parent starts and records its PID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2. fork() creates a child process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3. Child runs ls -l src using execlp()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4. Parent waits using waitpid()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5. Parent checks child exit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074920" cy="2377440"/>
          </a:xfrm>
          <a:prstGeom prst="roundRect">
            <a:avLst/>
          </a:prstGeom>
          <a:solidFill>
            <a:srgbClr val="162B48"/>
          </a:solidFill>
          <a:ln>
            <a:solidFill>
              <a:srgbClr val="2F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36192"/>
            <a:ext cx="64008" cy="2048256"/>
          </a:xfrm>
          <a:prstGeom prst="rect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536192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Key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93392"/>
            <a:ext cx="4709159" cy="1627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• Parent and child processes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• Process image replacement with exec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• Waiting and exit-status checking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• Child completion before parent exits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4340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40BE82"/>
                </a:solidFill>
                <a:latin typeface="Aptos"/>
              </a:defRPr>
            </a:pPr>
            <a:r>
              <a:t>Successful test evidence: directory listing appears, child exits with status 0, and parent completes.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CO-3 • Inter-Process Communication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60120" cy="50292"/>
          </a:xfrm>
          <a:prstGeom prst="rect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813816"/>
            <a:ext cx="9418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A4B5CC"/>
                </a:solidFill>
                <a:latin typeface="Aptos"/>
              </a:defRPr>
            </a:pPr>
            <a:r>
              <a:t>Pipe for data transfer and signal for notification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A4B5C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74920" cy="2240280"/>
          </a:xfrm>
          <a:prstGeom prst="roundRect">
            <a:avLst/>
          </a:prstGeom>
          <a:solidFill>
            <a:srgbClr val="162B48"/>
          </a:solidFill>
          <a:ln>
            <a:solidFill>
              <a:srgbClr val="2F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36192"/>
            <a:ext cx="64008" cy="1911096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36192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Anonymous pipe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4709159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The parent writes a message into a pipe. The child reads the message and displays it, demonstrating one-way data transfer between processes.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074920" cy="2240280"/>
          </a:xfrm>
          <a:prstGeom prst="roundRect">
            <a:avLst/>
          </a:prstGeom>
          <a:solidFill>
            <a:srgbClr val="162B48"/>
          </a:solidFill>
          <a:ln>
            <a:solidFill>
              <a:srgbClr val="2F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36192"/>
            <a:ext cx="64008" cy="1911096"/>
          </a:xfrm>
          <a:prstGeom prst="rect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536192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Signal notification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93392"/>
            <a:ext cx="4709159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After processing the message, the child sends SIGUSR1 to notify the parent. The parent handles the notification and waits for successful child completion.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251960"/>
            <a:ext cx="1737360" cy="822960"/>
          </a:xfrm>
          <a:prstGeom prst="roundRect">
            <a:avLst/>
          </a:prstGeom>
          <a:solidFill>
            <a:srgbClr val="162B48"/>
          </a:solidFill>
          <a:ln>
            <a:solidFill>
              <a:srgbClr val="2E7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370832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7F9FC"/>
                </a:solidFill>
                <a:latin typeface="Aptos"/>
              </a:defRPr>
            </a:pPr>
            <a:r>
              <a:t>Parent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09160"/>
            <a:ext cx="1645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DEE7F3"/>
                </a:solidFill>
                <a:latin typeface="Aptos"/>
              </a:defRPr>
            </a:pPr>
            <a:r>
              <a:t>write()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4251960"/>
            <a:ext cx="1737360" cy="822960"/>
          </a:xfrm>
          <a:prstGeom prst="roundRect">
            <a:avLst/>
          </a:prstGeom>
          <a:solidFill>
            <a:srgbClr val="162B48"/>
          </a:solidFill>
          <a:ln>
            <a:solidFill>
              <a:srgbClr val="2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94759" y="4370832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7F9FC"/>
                </a:solidFill>
                <a:latin typeface="Aptos"/>
              </a:defRPr>
            </a:pPr>
            <a:r>
              <a:t>Pipe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59" y="4709160"/>
            <a:ext cx="1645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DEE7F3"/>
                </a:solidFill>
                <a:latin typeface="Aptos"/>
              </a:defRPr>
            </a:pPr>
            <a:r>
              <a:t>message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251960"/>
            <a:ext cx="1737360" cy="822960"/>
          </a:xfrm>
          <a:prstGeom prst="roundRect">
            <a:avLst/>
          </a:prstGeom>
          <a:solidFill>
            <a:srgbClr val="162B48"/>
          </a:solidFill>
          <a:ln>
            <a:solidFill>
              <a:srgbClr val="40B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59" y="4370832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7F9FC"/>
                </a:solidFill>
                <a:latin typeface="Aptos"/>
              </a:defRPr>
            </a:pPr>
            <a:r>
              <a:t>Child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4709160"/>
            <a:ext cx="1645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DEE7F3"/>
                </a:solidFill>
                <a:latin typeface="Aptos"/>
              </a:defRPr>
            </a:pPr>
            <a:r>
              <a:t>read()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4251960"/>
            <a:ext cx="1737360" cy="822960"/>
          </a:xfrm>
          <a:prstGeom prst="roundRect">
            <a:avLst/>
          </a:prstGeom>
          <a:solidFill>
            <a:srgbClr val="162B48"/>
          </a:solidFill>
          <a:ln>
            <a:solidFill>
              <a:srgbClr val="F4B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1160" y="4370832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7F9FC"/>
                </a:solidFill>
                <a:latin typeface="Aptos"/>
              </a:defRPr>
            </a:pPr>
            <a:r>
              <a:t>Parent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4709160"/>
            <a:ext cx="1645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DEE7F3"/>
                </a:solidFill>
                <a:latin typeface="Aptos"/>
              </a:defRPr>
            </a:pPr>
            <a:r>
              <a:t>SIGUSR1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743200" y="4663440"/>
            <a:ext cx="1005839" cy="0"/>
          </a:xfrm>
          <a:prstGeom prst="line">
            <a:avLst/>
          </a:prstGeom>
          <a:ln w="25400">
            <a:solidFill>
              <a:srgbClr val="2F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86400" y="4663440"/>
            <a:ext cx="1005840" cy="0"/>
          </a:xfrm>
          <a:prstGeom prst="line">
            <a:avLst/>
          </a:prstGeom>
          <a:ln w="25400">
            <a:solidFill>
              <a:srgbClr val="2F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229600" y="4663440"/>
            <a:ext cx="1005840" cy="0"/>
          </a:xfrm>
          <a:prstGeom prst="line">
            <a:avLst/>
          </a:prstGeom>
          <a:ln w="25400">
            <a:solidFill>
              <a:srgbClr val="2F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CO-4 • Memory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60120" cy="50292"/>
          </a:xfrm>
          <a:prstGeom prst="rect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813816"/>
            <a:ext cx="9418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A4B5CC"/>
                </a:solidFill>
                <a:latin typeface="Aptos"/>
              </a:defRPr>
            </a:pPr>
            <a:r>
              <a:t>Dynamic allocation and copy-on-write after fork()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A4B5C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74920" cy="2331720"/>
          </a:xfrm>
          <a:prstGeom prst="roundRect">
            <a:avLst/>
          </a:prstGeom>
          <a:solidFill>
            <a:srgbClr val="162B48"/>
          </a:solidFill>
          <a:ln>
            <a:solidFill>
              <a:srgbClr val="2F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36192"/>
            <a:ext cx="64008" cy="2002536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36192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Dynamic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4709159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The program allocates an integer array dynamically, inspects memory information from /proc, and releases allocated memory when finished.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074920" cy="2331720"/>
          </a:xfrm>
          <a:prstGeom prst="roundRect">
            <a:avLst/>
          </a:prstGeom>
          <a:solidFill>
            <a:srgbClr val="162B48"/>
          </a:solidFill>
          <a:ln>
            <a:solidFill>
              <a:srgbClr val="2F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36192"/>
            <a:ext cx="64008" cy="2002536"/>
          </a:xfrm>
          <a:prstGeom prst="rect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536192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Copy-on-write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93392"/>
            <a:ext cx="4709159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After fork(), the child changes data[0] to 999. The parent still sees data[0] = 10, demonstrating separate process memory views.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4B441"/>
                </a:solidFill>
                <a:latin typeface="Aptos"/>
              </a:defRPr>
            </a:pPr>
            <a:r>
              <a:t>Child process: data[0] = 999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34340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40BE82"/>
                </a:solidFill>
                <a:latin typeface="Aptos"/>
              </a:defRPr>
            </a:pPr>
            <a:r>
              <a:t>Parent process: data[0] =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074920"/>
            <a:ext cx="8503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DEE7F3"/>
                </a:solidFill>
                <a:latin typeface="Aptos"/>
              </a:defRPr>
            </a:pPr>
            <a:r>
              <a:t>Takeaway: a child’s memory modification does not overwrite the parent’s private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CO-5 • File Operations &amp; Memory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60120" cy="50292"/>
          </a:xfrm>
          <a:prstGeom prst="rect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813816"/>
            <a:ext cx="9418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A4B5CC"/>
                </a:solidFill>
                <a:latin typeface="Aptos"/>
              </a:defRPr>
            </a:pPr>
            <a:r>
              <a:t>Comparing standard file access with mapped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A4B5C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2423160"/>
          </a:xfrm>
          <a:prstGeom prst="roundRect">
            <a:avLst/>
          </a:prstGeom>
          <a:solidFill>
            <a:srgbClr val="162B48"/>
          </a:solidFill>
          <a:ln>
            <a:solidFill>
              <a:srgbClr val="2F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36192"/>
            <a:ext cx="64008" cy="2093976"/>
          </a:xfrm>
          <a:prstGeom prst="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36192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1 • Create / write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3017520" cy="1673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DEE7F3"/>
                </a:solidFill>
                <a:latin typeface="Aptos"/>
              </a:defRPr>
            </a:pPr>
            <a:r>
              <a:t>Creates database_record.txt and writes a sample database record.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2423160"/>
          </a:xfrm>
          <a:prstGeom prst="roundRect">
            <a:avLst/>
          </a:prstGeom>
          <a:solidFill>
            <a:srgbClr val="162B48"/>
          </a:solidFill>
          <a:ln>
            <a:solidFill>
              <a:srgbClr val="2F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36192"/>
            <a:ext cx="64008" cy="2093976"/>
          </a:xfrm>
          <a:prstGeom prst="rect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536192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2 • 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93392"/>
            <a:ext cx="3017520" cy="1673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DEE7F3"/>
                </a:solidFill>
                <a:latin typeface="Aptos"/>
              </a:defRPr>
            </a:pPr>
            <a:r>
              <a:t>Uses read() and file-position operations to retrieve the file contents.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383280" cy="2423160"/>
          </a:xfrm>
          <a:prstGeom prst="roundRect">
            <a:avLst/>
          </a:prstGeom>
          <a:solidFill>
            <a:srgbClr val="162B48"/>
          </a:solidFill>
          <a:ln>
            <a:solidFill>
              <a:srgbClr val="2F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536192"/>
            <a:ext cx="64008" cy="2093976"/>
          </a:xfrm>
          <a:prstGeom prst="rect">
            <a:avLst/>
          </a:prstGeom>
          <a:solidFill>
            <a:srgbClr val="40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536192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3 • Map / 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93392"/>
            <a:ext cx="3017520" cy="1673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DEE7F3"/>
                </a:solidFill>
                <a:latin typeface="Aptos"/>
              </a:defRPr>
            </a:pPr>
            <a:r>
              <a:t>Uses mmap() to access file contents, then unmaps and closes the file descriptor.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101498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Demonstrated APIs: open/write/read • fstat • lseek • mmap • munmap • close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074920"/>
            <a:ext cx="9875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40BE82"/>
                </a:solidFill>
                <a:latin typeface="Aptos"/>
              </a:defRPr>
            </a:pPr>
            <a:r>
              <a:t>Validation confirms the expected record text appears in both read() and mmap() output.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CO-6 • Thread Synchronization &amp; Race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60120" cy="50292"/>
          </a:xfrm>
          <a:prstGeom prst="rect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813816"/>
            <a:ext cx="9418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A4B5CC"/>
                </a:solidFill>
                <a:latin typeface="Aptos"/>
              </a:defRPr>
            </a:pPr>
            <a:r>
              <a:t>Compare unsynchronized shared updates with mutex-protected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A4B5C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74920" cy="2423160"/>
          </a:xfrm>
          <a:prstGeom prst="roundRect">
            <a:avLst/>
          </a:prstGeom>
          <a:solidFill>
            <a:srgbClr val="162B48"/>
          </a:solidFill>
          <a:ln>
            <a:solidFill>
              <a:srgbClr val="2F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36192"/>
            <a:ext cx="64008" cy="2093976"/>
          </a:xfrm>
          <a:prstGeom prst="rect">
            <a:avLst/>
          </a:prstGeom>
          <a:solidFill>
            <a:srgbClr val="EB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36192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Experiment 1: No mutex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4709159" cy="1673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DEE7F3"/>
                </a:solidFill>
                <a:latin typeface="Aptos"/>
              </a:defRPr>
            </a:pPr>
            <a:r>
              <a:t>Four threads increment a shared counter. Concurrent unsynchronized access creates a data race, which is undefined behavior in C; the observed result can vary.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074920" cy="2423160"/>
          </a:xfrm>
          <a:prstGeom prst="roundRect">
            <a:avLst/>
          </a:prstGeom>
          <a:solidFill>
            <a:srgbClr val="162B48"/>
          </a:solidFill>
          <a:ln>
            <a:solidFill>
              <a:srgbClr val="2F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36192"/>
            <a:ext cx="64008" cy="2093976"/>
          </a:xfrm>
          <a:prstGeom prst="rect">
            <a:avLst/>
          </a:prstGeom>
          <a:solidFill>
            <a:srgbClr val="40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536192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Experiment 2: With mutex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93392"/>
            <a:ext cx="4709159" cy="1673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DEE7F3"/>
                </a:solidFill>
                <a:latin typeface="Aptos"/>
              </a:defRPr>
            </a:pPr>
            <a:r>
              <a:t>The same workload uses pthread_mutex_t to protect updates. The expected result is 4 × 100,000 = 400,000, with no lost updates.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251960"/>
            <a:ext cx="1920240" cy="329184"/>
          </a:xfrm>
          <a:prstGeom prst="roundRect">
            <a:avLst/>
          </a:prstGeom>
          <a:solidFill>
            <a:srgbClr val="EB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33856" y="4279392"/>
            <a:ext cx="1847088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7F9FC"/>
                </a:solidFill>
                <a:latin typeface="Aptos"/>
              </a:defRPr>
            </a:pPr>
            <a:r>
              <a:t>UNPROTECTED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4251960"/>
            <a:ext cx="1920240" cy="329184"/>
          </a:xfrm>
          <a:prstGeom prst="roundRect">
            <a:avLst/>
          </a:prstGeom>
          <a:solidFill>
            <a:srgbClr val="F4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94176" y="4279392"/>
            <a:ext cx="1847088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7F9FC"/>
                </a:solidFill>
                <a:latin typeface="Aptos"/>
              </a:defRPr>
            </a:pPr>
            <a:r>
              <a:t>RACE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251960"/>
            <a:ext cx="1645920" cy="329184"/>
          </a:xfrm>
          <a:prstGeom prst="roundRect">
            <a:avLst/>
          </a:prstGeom>
          <a:solidFill>
            <a:srgbClr val="40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28816" y="4279392"/>
            <a:ext cx="1572768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7F9FC"/>
                </a:solidFill>
                <a:latin typeface="Aptos"/>
              </a:defRPr>
            </a:pPr>
            <a:r>
              <a:t>MUTEX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4251960"/>
            <a:ext cx="2103120" cy="329184"/>
          </a:xfrm>
          <a:prstGeom prst="roundRect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69096" y="4279392"/>
            <a:ext cx="2029967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7F9FC"/>
                </a:solidFill>
                <a:latin typeface="Aptos"/>
              </a:defRPr>
            </a:pPr>
            <a:r>
              <a:t>400,000 EXPECTED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A4B5CC"/>
                </a:solidFill>
                <a:latin typeface="Aptos"/>
              </a:defRPr>
            </a:pPr>
            <a:r>
              <a:t>Important: the unsafe experiment is illustrative; its result is not guaranteed to be below 400,000.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Testing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60120" cy="50292"/>
          </a:xfrm>
          <a:prstGeom prst="rect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813816"/>
            <a:ext cx="9418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A4B5CC"/>
                </a:solidFill>
                <a:latin typeface="Aptos"/>
              </a:defRPr>
            </a:pPr>
            <a:r>
              <a:t>Automated test suite executed on Ubuntu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A4B5C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2926080" cy="3474720"/>
          </a:xfrm>
          <a:prstGeom prst="roundRect">
            <a:avLst/>
          </a:prstGeom>
          <a:solidFill>
            <a:srgbClr val="144341"/>
          </a:solidFill>
          <a:ln>
            <a:solidFill>
              <a:srgbClr val="40B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2377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3000" b="1">
                <a:solidFill>
                  <a:srgbClr val="40BE82"/>
                </a:solidFill>
                <a:latin typeface="Aptos"/>
              </a:defRPr>
            </a:pPr>
            <a:r>
              <a:t>7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TESTS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2377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DEE7F3"/>
                </a:solidFill>
                <a:latin typeface="Aptos"/>
              </a:defRPr>
            </a:pPr>
            <a:r>
              <a:t>0 FAILED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8620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40BE82"/>
                </a:solidFill>
                <a:latin typeface="Aptos"/>
              </a:defRPr>
            </a:pPr>
            <a:r>
              <a:t>OVERALL: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417320"/>
            <a:ext cx="67665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F7F9FC"/>
                </a:solidFill>
                <a:latin typeface="Aptos"/>
              </a:defRPr>
            </a:pPr>
            <a:r>
              <a:t>Tested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965960"/>
            <a:ext cx="6858000" cy="3108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DEE7F3"/>
                </a:solidFill>
                <a:latin typeface="Aptos"/>
              </a:defRPr>
            </a:pPr>
            <a:r>
              <a:t>•  Readers–Writers synchronization (final value = 160)</a:t>
            </a:r>
          </a:p>
          <a:p>
            <a:pPr>
              <a:spcAft>
                <a:spcPts val="500"/>
              </a:spcAft>
              <a:defRPr sz="1600">
                <a:solidFill>
                  <a:srgbClr val="DEE7F3"/>
                </a:solidFill>
                <a:latin typeface="Aptos"/>
              </a:defRPr>
            </a:pPr>
            <a:r>
              <a:t>•  System information and OS services</a:t>
            </a:r>
          </a:p>
          <a:p>
            <a:pPr>
              <a:spcAft>
                <a:spcPts val="500"/>
              </a:spcAft>
              <a:defRPr sz="1600">
                <a:solidFill>
                  <a:srgbClr val="DEE7F3"/>
                </a:solidFill>
                <a:latin typeface="Aptos"/>
              </a:defRPr>
            </a:pPr>
            <a:r>
              <a:t>•  Process management</a:t>
            </a:r>
          </a:p>
          <a:p>
            <a:pPr>
              <a:spcAft>
                <a:spcPts val="500"/>
              </a:spcAft>
              <a:defRPr sz="1600">
                <a:solidFill>
                  <a:srgbClr val="DEE7F3"/>
                </a:solidFill>
                <a:latin typeface="Aptos"/>
              </a:defRPr>
            </a:pPr>
            <a:r>
              <a:t>•  Inter-process communication</a:t>
            </a:r>
          </a:p>
          <a:p>
            <a:pPr>
              <a:spcAft>
                <a:spcPts val="500"/>
              </a:spcAft>
              <a:defRPr sz="1600">
                <a:solidFill>
                  <a:srgbClr val="DEE7F3"/>
                </a:solidFill>
                <a:latin typeface="Aptos"/>
              </a:defRPr>
            </a:pPr>
            <a:r>
              <a:t>•  Memory management and copy-on-write</a:t>
            </a:r>
          </a:p>
          <a:p>
            <a:pPr>
              <a:spcAft>
                <a:spcPts val="500"/>
              </a:spcAft>
              <a:defRPr sz="1600">
                <a:solidFill>
                  <a:srgbClr val="DEE7F3"/>
                </a:solidFill>
                <a:latin typeface="Aptos"/>
              </a:defRPr>
            </a:pPr>
            <a:r>
              <a:t>•  File operations and memory mapping</a:t>
            </a:r>
          </a:p>
          <a:p>
            <a:pPr>
              <a:spcAft>
                <a:spcPts val="500"/>
              </a:spcAft>
              <a:defRPr sz="1600">
                <a:solidFill>
                  <a:srgbClr val="DEE7F3"/>
                </a:solidFill>
                <a:latin typeface="Aptos"/>
              </a:defRPr>
            </a:pPr>
            <a:r>
              <a:t>•  Thread synchronization and race conditions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5349240"/>
            <a:ext cx="6492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2FBECD"/>
                </a:solidFill>
                <a:latin typeface="Aptos"/>
              </a:defRPr>
            </a:pPr>
            <a:r>
              <a:t>Command used: make test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Limitations &amp;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60120" cy="50292"/>
          </a:xfrm>
          <a:prstGeom prst="rect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813816"/>
            <a:ext cx="9418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A4B5CC"/>
                </a:solidFill>
                <a:latin typeface="Aptos"/>
              </a:defRPr>
            </a:pPr>
            <a:r>
              <a:t>A clear path from a lab simulator to a stronger learning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A4B5C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74920" cy="3063240"/>
          </a:xfrm>
          <a:prstGeom prst="roundRect">
            <a:avLst/>
          </a:prstGeom>
          <a:solidFill>
            <a:srgbClr val="162B48"/>
          </a:solidFill>
          <a:ln>
            <a:solidFill>
              <a:srgbClr val="2F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36192"/>
            <a:ext cx="64008" cy="2734056"/>
          </a:xfrm>
          <a:prstGeom prst="rect">
            <a:avLst/>
          </a:prstGeom>
          <a:solidFill>
            <a:srgbClr val="F4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36192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Current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4709159" cy="2313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• Terminal-based; no graphical interface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• Uses a simulated integer value, not a production database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• Race-condition experiment is intentionally unsafe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• Demonstrates selected Linux/POSIX concepts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074920" cy="3063240"/>
          </a:xfrm>
          <a:prstGeom prst="roundRect">
            <a:avLst/>
          </a:prstGeom>
          <a:solidFill>
            <a:srgbClr val="162B48"/>
          </a:solidFill>
          <a:ln>
            <a:solidFill>
              <a:srgbClr val="2F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36192"/>
            <a:ext cx="64008" cy="2734056"/>
          </a:xfrm>
          <a:prstGeom prst="rect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536192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93392"/>
            <a:ext cx="4709159" cy="2313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• Add configurable reader/writer counts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• Record timing and throughput metrics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• Add repeated stress tests and race detection tools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• Export test reports automatically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DEE7F3"/>
                </a:solidFill>
                <a:latin typeface="Aptos"/>
              </a:defRPr>
            </a:pPr>
            <a:r>
              <a:t>• Optional visual timeline for thread activity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DEE7F3"/>
                </a:solidFill>
                <a:latin typeface="Aptos"/>
              </a:defRPr>
            </a:pPr>
            <a:r>
              <a:t>The current version prioritizes clear OS concepts, reproducibility, and testable terminal output.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FBECD"/>
                </a:solidFill>
                <a:latin typeface="Aptos"/>
              </a:defRPr>
            </a:pPr>
            <a:r>
              <a:t>TEAM NO. 23  |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3200" b="1">
                <a:solidFill>
                  <a:srgbClr val="F7F9F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331720"/>
            <a:ext cx="9326880" cy="1234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2000" b="0">
                <a:solidFill>
                  <a:srgbClr val="DEE7F3"/>
                </a:solidFill>
                <a:latin typeface="Aptos"/>
              </a:defRPr>
            </a:pPr>
            <a:r>
              <a:t>The project demonstrates how operating systems coordinate concurrent access and provide essential services for processes, communication, memory, and 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4069080"/>
            <a:ext cx="2971800" cy="1051560"/>
          </a:xfrm>
          <a:prstGeom prst="roundRect">
            <a:avLst/>
          </a:prstGeom>
          <a:solidFill>
            <a:srgbClr val="162B48"/>
          </a:solidFill>
          <a:ln>
            <a:solidFill>
              <a:srgbClr val="2E7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4224528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E70DA"/>
                </a:solidFill>
                <a:latin typeface="Aptos"/>
              </a:defRPr>
            </a:pPr>
            <a:r>
              <a:t>Synchronization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4590288"/>
            <a:ext cx="2743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DEE7F3"/>
                </a:solidFill>
                <a:latin typeface="Aptos"/>
              </a:defRPr>
            </a:pPr>
            <a:r>
              <a:t>Reader–writer lock protects shared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069080"/>
            <a:ext cx="2971800" cy="1051560"/>
          </a:xfrm>
          <a:prstGeom prst="roundRect">
            <a:avLst/>
          </a:prstGeom>
          <a:solidFill>
            <a:srgbClr val="162B48"/>
          </a:solidFill>
          <a:ln>
            <a:solidFill>
              <a:srgbClr val="2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53128" y="4224528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FBECD"/>
                </a:solidFill>
                <a:latin typeface="Aptos"/>
              </a:defRPr>
            </a:pPr>
            <a:r>
              <a:t>OS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4590288"/>
            <a:ext cx="2743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DEE7F3"/>
                </a:solidFill>
                <a:latin typeface="Aptos"/>
              </a:defRPr>
            </a:pPr>
            <a:r>
              <a:t>Six modules demonstrate key 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4069080"/>
            <a:ext cx="2971800" cy="1051560"/>
          </a:xfrm>
          <a:prstGeom prst="roundRect">
            <a:avLst/>
          </a:prstGeom>
          <a:solidFill>
            <a:srgbClr val="162B48"/>
          </a:solidFill>
          <a:ln>
            <a:solidFill>
              <a:srgbClr val="40B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36407" y="4224528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40BE82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7" y="4590288"/>
            <a:ext cx="2743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DEE7F3"/>
                </a:solidFill>
                <a:latin typeface="Aptos"/>
              </a:defRPr>
            </a:pPr>
            <a:r>
              <a:t>7 tests passed; 0 failed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40BE82"/>
                </a:solidFill>
                <a:latin typeface="Aptos"/>
              </a:defRPr>
            </a:pPr>
            <a:r>
              <a:t>Final database value verified: 160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05840" y="1005840"/>
            <a:ext cx="1097280" cy="1097280"/>
          </a:xfrm>
          <a:prstGeom prst="ellipse">
            <a:avLst/>
          </a:prstGeom>
          <a:solidFill>
            <a:srgbClr val="16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1097280"/>
            <a:ext cx="1463040" cy="1463040"/>
          </a:xfrm>
          <a:prstGeom prst="ellipse">
            <a:avLst/>
          </a:prstGeom>
          <a:solidFill>
            <a:srgbClr val="2E7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4297680"/>
            <a:ext cx="914400" cy="914400"/>
          </a:xfrm>
          <a:prstGeom prst="ellipse">
            <a:avLst/>
          </a:prstGeom>
          <a:solidFill>
            <a:srgbClr val="2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4663440"/>
            <a:ext cx="640080" cy="640080"/>
          </a:xfrm>
          <a:prstGeom prst="ellipse">
            <a:avLst/>
          </a:prstGeom>
          <a:solidFill>
            <a:srgbClr val="40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3800" b="1">
                <a:solidFill>
                  <a:srgbClr val="2FBECD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7F9FC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DEE7F3"/>
                </a:solidFill>
                <a:latin typeface="Aptos"/>
              </a:defRPr>
            </a:pPr>
            <a:r>
              <a:t>Readers–Writers Concurrent Database Simulator</a:t>
            </a:r>
          </a:p>
          <a:p>
            <a:pPr algn="ctr">
              <a:spcAft>
                <a:spcPts val="500"/>
              </a:spcAft>
              <a:defRPr sz="1600" b="0">
                <a:solidFill>
                  <a:srgbClr val="DEE7F3"/>
                </a:solidFill>
                <a:latin typeface="Aptos"/>
              </a:defRPr>
            </a:pPr>
            <a:r>
              <a:t>OS Hackathon • Team No.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A4B5CC"/>
                </a:solidFill>
                <a:latin typeface="Aptos"/>
              </a:defRPr>
            </a:pPr>
            <a:r>
              <a:t>2520030303  •  2520030164  •  2520030069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1112</Words>
  <Application>Microsoft Office PowerPoint</Application>
  <PresentationFormat>Widescreen</PresentationFormat>
  <Paragraphs>170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Readers-Writers Concurrent Database Simulator - Updated</dc:title>
  <dc:subject>OS Hackathon Team 23 presentation with separate Conclusion and Thank You slides</dc:subject>
  <dc:creator>Team 23</dc:creator>
  <cp:keywords>Operating Systems, Readers-Writers, pthreads, IPC, memory management, Linux</cp:keywords>
  <dc:description>generated using python-pptx</dc:description>
  <cp:lastModifiedBy>hemsawi@outlook.com</cp:lastModifiedBy>
  <cp:revision>2</cp:revision>
  <dcterms:created xsi:type="dcterms:W3CDTF">2013-01-27T09:14:16Z</dcterms:created>
  <dcterms:modified xsi:type="dcterms:W3CDTF">2026-10-17T06:01:05Z</dcterms:modified>
  <cp:category/>
</cp:coreProperties>
</file>